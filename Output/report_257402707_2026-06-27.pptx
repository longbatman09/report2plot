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4400" b="1">
                <a:solidFill>
                  <a:srgbClr val="FFFFFF"/>
                </a:solidFill>
                <a:latin typeface="Georgia"/>
              </a:defRPr>
            </a:pPr>
            <a:r>
              <a:t>JEE Main WTM 29 Analysis</a:t>
            </a:r>
          </a:p>
          <a:p>
            <a:pPr>
              <a:lnSpc>
                <a:spcPct val="130000"/>
              </a:lnSpc>
              <a:defRPr sz="1600">
                <a:solidFill>
                  <a:srgbClr val="CADCFC"/>
                </a:solidFill>
                <a:latin typeface="Calibri"/>
              </a:defRPr>
            </a:pPr>
            <a:r>
              <a:t>Student: B VISHAL CHANDRAKANTH</a:t>
            </a:r>
            <a:br/>
            <a:r>
              <a:t>Student ID: 257402707</a:t>
            </a:r>
            <a:br/>
            <a:r>
              <a:t>Class: 12 </a:t>
            </a:r>
            <a:br/>
            <a:r>
              <a:t>Report Date: June 27,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Physics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80160"/>
            <a:ext cx="53035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hys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00200"/>
            <a:ext cx="5029200" cy="411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02375" y="1280160"/>
            <a:ext cx="53035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490667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1E2761"/>
                </a:solidFill>
                <a:latin typeface="Georgia"/>
              </a:defRPr>
            </a:pPr>
            <a:r>
              <a:t>Key Data Points:</a:t>
            </a:r>
          </a:p>
          <a:p>
            <a:pPr>
              <a:spcAft>
                <a:spcPts val="800"/>
              </a:spcAft>
              <a:defRPr sz="1400">
                <a:solidFill>
                  <a:srgbClr val="3C4043"/>
                </a:solidFill>
                <a:latin typeface="Calibri"/>
              </a:defRPr>
            </a:pPr>
            <a:r>
              <a:t>• Average Score: 21.67</a:t>
            </a:r>
          </a:p>
          <a:p>
            <a:pPr>
              <a:spcAft>
                <a:spcPts val="800"/>
              </a:spcAft>
              <a:defRPr sz="1400">
                <a:solidFill>
                  <a:srgbClr val="3C4043"/>
                </a:solidFill>
                <a:latin typeface="Calibri"/>
              </a:defRPr>
            </a:pPr>
            <a:r>
              <a:t>• Max Score: 65.0 (on WTM 31)</a:t>
            </a:r>
          </a:p>
          <a:p>
            <a:pPr>
              <a:spcAft>
                <a:spcPts val="800"/>
              </a:spcAft>
              <a:defRPr sz="1400">
                <a:solidFill>
                  <a:srgbClr val="3C4043"/>
                </a:solidFill>
                <a:latin typeface="Calibri"/>
              </a:defRPr>
            </a:pPr>
            <a:r>
              <a:t>• Min Score: 0.0 (on WTM 29)</a:t>
            </a:r>
          </a:p>
          <a:p>
            <a:pPr>
              <a:spcAft>
                <a:spcPts val="800"/>
              </a:spcAft>
              <a:defRPr sz="1400">
                <a:solidFill>
                  <a:srgbClr val="3C4043"/>
                </a:solidFill>
                <a:latin typeface="Calibri"/>
              </a:defRPr>
            </a:pPr>
            <a:r>
              <a:t>• Trend Direction: Improving (+65.00 points from start)</a:t>
            </a:r>
          </a:p>
          <a:p>
            <a:pPr>
              <a:defRPr sz="1400">
                <a:solidFill>
                  <a:srgbClr val="3C4043"/>
                </a:solidFill>
                <a:latin typeface="Calibri"/>
              </a:defRPr>
            </a:pPr>
            <a:r>
              <a:t>• Class Comparison: Student is 65.00 points above the class average in the latest exam.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Physics Marks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80160"/>
            <a:ext cx="53035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hysics_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00200"/>
            <a:ext cx="5029200" cy="411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02375" y="1280160"/>
            <a:ext cx="53035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490667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1E2761"/>
                </a:solidFill>
                <a:latin typeface="Georgia"/>
              </a:defRPr>
            </a:pPr>
            <a:r>
              <a:t>Key Data Points:</a:t>
            </a:r>
          </a:p>
          <a:p>
            <a:pPr>
              <a:spcAft>
                <a:spcPts val="800"/>
              </a:spcAft>
              <a:defRPr sz="1400">
                <a:solidFill>
                  <a:srgbClr val="3C4043"/>
                </a:solidFill>
                <a:latin typeface="Calibri"/>
              </a:defRPr>
            </a:pPr>
            <a:r>
              <a:t>• Average Score: 20.33</a:t>
            </a:r>
          </a:p>
          <a:p>
            <a:pPr>
              <a:spcAft>
                <a:spcPts val="800"/>
              </a:spcAft>
              <a:defRPr sz="1400">
                <a:solidFill>
                  <a:srgbClr val="3C4043"/>
                </a:solidFill>
                <a:latin typeface="Calibri"/>
              </a:defRPr>
            </a:pPr>
            <a:r>
              <a:t>• Max Score: 33.0 (on WTM 30)</a:t>
            </a:r>
          </a:p>
          <a:p>
            <a:pPr>
              <a:spcAft>
                <a:spcPts val="800"/>
              </a:spcAft>
              <a:defRPr sz="1400">
                <a:solidFill>
                  <a:srgbClr val="3C4043"/>
                </a:solidFill>
                <a:latin typeface="Calibri"/>
              </a:defRPr>
            </a:pPr>
            <a:r>
              <a:t>• Min Score: 0.0 (on WTM 31)</a:t>
            </a:r>
          </a:p>
          <a:p>
            <a:pPr>
              <a:spcAft>
                <a:spcPts val="800"/>
              </a:spcAft>
              <a:defRPr sz="1400">
                <a:solidFill>
                  <a:srgbClr val="3C4043"/>
                </a:solidFill>
                <a:latin typeface="Calibri"/>
              </a:defRPr>
            </a:pPr>
            <a:r>
              <a:t>• Trend Direction: Declining (-28.00 points from start)</a:t>
            </a:r>
          </a:p>
          <a:p>
            <a:pPr>
              <a:defRPr sz="1400">
                <a:solidFill>
                  <a:srgbClr val="3C4043"/>
                </a:solidFill>
                <a:latin typeface="Calibri"/>
              </a:defRPr>
            </a:pPr>
            <a:r>
              <a:t>• Class Comparison: Student is equal to the class average in the latest exam.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Chemistry Marks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80160"/>
            <a:ext cx="53035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emistry_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00200"/>
            <a:ext cx="5029200" cy="411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02375" y="1280160"/>
            <a:ext cx="53035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490667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1E2761"/>
                </a:solidFill>
                <a:latin typeface="Georgia"/>
              </a:defRPr>
            </a:pPr>
            <a:r>
              <a:t>Key Data Points:</a:t>
            </a:r>
          </a:p>
          <a:p>
            <a:pPr>
              <a:spcAft>
                <a:spcPts val="800"/>
              </a:spcAft>
              <a:defRPr sz="1400">
                <a:solidFill>
                  <a:srgbClr val="3C4043"/>
                </a:solidFill>
                <a:latin typeface="Calibri"/>
              </a:defRPr>
            </a:pPr>
            <a:r>
              <a:t>• Average Score: 20.67</a:t>
            </a:r>
          </a:p>
          <a:p>
            <a:pPr>
              <a:spcAft>
                <a:spcPts val="800"/>
              </a:spcAft>
              <a:defRPr sz="1400">
                <a:solidFill>
                  <a:srgbClr val="3C4043"/>
                </a:solidFill>
                <a:latin typeface="Calibri"/>
              </a:defRPr>
            </a:pPr>
            <a:r>
              <a:t>• Max Score: 42.0 (on WTM 30)</a:t>
            </a:r>
          </a:p>
          <a:p>
            <a:pPr>
              <a:spcAft>
                <a:spcPts val="800"/>
              </a:spcAft>
              <a:defRPr sz="1400">
                <a:solidFill>
                  <a:srgbClr val="3C4043"/>
                </a:solidFill>
                <a:latin typeface="Calibri"/>
              </a:defRPr>
            </a:pPr>
            <a:r>
              <a:t>• Min Score: 0.0 (on WTM 31)</a:t>
            </a:r>
          </a:p>
          <a:p>
            <a:pPr>
              <a:spcAft>
                <a:spcPts val="800"/>
              </a:spcAft>
              <a:defRPr sz="1400">
                <a:solidFill>
                  <a:srgbClr val="3C4043"/>
                </a:solidFill>
                <a:latin typeface="Calibri"/>
              </a:defRPr>
            </a:pPr>
            <a:r>
              <a:t>• Trend Direction: Declining (-20.00 points from start)</a:t>
            </a:r>
          </a:p>
          <a:p>
            <a:pPr>
              <a:defRPr sz="1400">
                <a:solidFill>
                  <a:srgbClr val="3C4043"/>
                </a:solidFill>
                <a:latin typeface="Calibri"/>
              </a:defRPr>
            </a:pPr>
            <a:r>
              <a:t>• Class Comparison: Student is equal to the class average in the latest exam.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Maths Marks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80160"/>
            <a:ext cx="53035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ths_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00200"/>
            <a:ext cx="5029200" cy="411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02375" y="1280160"/>
            <a:ext cx="53035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490667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1E2761"/>
                </a:solidFill>
                <a:latin typeface="Georgia"/>
              </a:defRPr>
            </a:pPr>
            <a:r>
              <a:t>Key Data Points:</a:t>
            </a:r>
          </a:p>
          <a:p>
            <a:pPr>
              <a:spcAft>
                <a:spcPts val="800"/>
              </a:spcAft>
              <a:defRPr sz="1400">
                <a:solidFill>
                  <a:srgbClr val="3C4043"/>
                </a:solidFill>
                <a:latin typeface="Calibri"/>
              </a:defRPr>
            </a:pPr>
            <a:r>
              <a:t>• Average Score: 34.67</a:t>
            </a:r>
          </a:p>
          <a:p>
            <a:pPr>
              <a:spcAft>
                <a:spcPts val="800"/>
              </a:spcAft>
              <a:defRPr sz="1400">
                <a:solidFill>
                  <a:srgbClr val="3C4043"/>
                </a:solidFill>
                <a:latin typeface="Calibri"/>
              </a:defRPr>
            </a:pPr>
            <a:r>
              <a:t>• Max Score: 53.0 (on WTM 30)</a:t>
            </a:r>
          </a:p>
          <a:p>
            <a:pPr>
              <a:spcAft>
                <a:spcPts val="800"/>
              </a:spcAft>
              <a:defRPr sz="1400">
                <a:solidFill>
                  <a:srgbClr val="3C4043"/>
                </a:solidFill>
                <a:latin typeface="Calibri"/>
              </a:defRPr>
            </a:pPr>
            <a:r>
              <a:t>• Min Score: 0.0 (on WTM 31)</a:t>
            </a:r>
          </a:p>
          <a:p>
            <a:pPr>
              <a:spcAft>
                <a:spcPts val="800"/>
              </a:spcAft>
              <a:defRPr sz="1400">
                <a:solidFill>
                  <a:srgbClr val="3C4043"/>
                </a:solidFill>
                <a:latin typeface="Calibri"/>
              </a:defRPr>
            </a:pPr>
            <a:r>
              <a:t>• Trend Direction: Declining (-51.00 points from start)</a:t>
            </a:r>
          </a:p>
          <a:p>
            <a:pPr>
              <a:defRPr sz="1400">
                <a:solidFill>
                  <a:srgbClr val="3C4043"/>
                </a:solidFill>
                <a:latin typeface="Calibri"/>
              </a:defRPr>
            </a:pPr>
            <a:r>
              <a:t>• Class Comparison: Student is equal to the class average in the latest exam.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Total Mark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80160"/>
            <a:ext cx="53035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otal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00200"/>
            <a:ext cx="5029200" cy="411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02375" y="1280160"/>
            <a:ext cx="53035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490667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1E2761"/>
                </a:solidFill>
                <a:latin typeface="Georgia"/>
              </a:defRPr>
            </a:pPr>
            <a:r>
              <a:t>Key Data Points:</a:t>
            </a:r>
          </a:p>
          <a:p>
            <a:pPr>
              <a:spcAft>
                <a:spcPts val="800"/>
              </a:spcAft>
              <a:defRPr sz="1400">
                <a:solidFill>
                  <a:srgbClr val="3C4043"/>
                </a:solidFill>
                <a:latin typeface="Calibri"/>
              </a:defRPr>
            </a:pPr>
            <a:r>
              <a:t>• Average Score: 44.00</a:t>
            </a:r>
          </a:p>
          <a:p>
            <a:pPr>
              <a:spcAft>
                <a:spcPts val="800"/>
              </a:spcAft>
              <a:defRPr sz="1400">
                <a:solidFill>
                  <a:srgbClr val="3C4043"/>
                </a:solidFill>
                <a:latin typeface="Calibri"/>
              </a:defRPr>
            </a:pPr>
            <a:r>
              <a:t>• Max Score: 132.0 (on WTM 31)</a:t>
            </a:r>
          </a:p>
          <a:p>
            <a:pPr>
              <a:spcAft>
                <a:spcPts val="800"/>
              </a:spcAft>
              <a:defRPr sz="1400">
                <a:solidFill>
                  <a:srgbClr val="3C4043"/>
                </a:solidFill>
                <a:latin typeface="Calibri"/>
              </a:defRPr>
            </a:pPr>
            <a:r>
              <a:t>• Min Score: 0.0 (on WTM 29)</a:t>
            </a:r>
          </a:p>
          <a:p>
            <a:pPr>
              <a:spcAft>
                <a:spcPts val="800"/>
              </a:spcAft>
              <a:defRPr sz="1400">
                <a:solidFill>
                  <a:srgbClr val="3C4043"/>
                </a:solidFill>
                <a:latin typeface="Calibri"/>
              </a:defRPr>
            </a:pPr>
            <a:r>
              <a:t>• Trend Direction: Improving (+132.00 points from start)</a:t>
            </a:r>
          </a:p>
          <a:p>
            <a:pPr>
              <a:defRPr sz="1400">
                <a:solidFill>
                  <a:srgbClr val="3C4043"/>
                </a:solidFill>
                <a:latin typeface="Calibri"/>
              </a:defRPr>
            </a:pPr>
            <a:r>
              <a:t>• Class Comparison: Student is 132.00 points above the class average in the latest exam.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Chemistry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80160"/>
            <a:ext cx="53035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emis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00200"/>
            <a:ext cx="5029200" cy="411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02375" y="1280160"/>
            <a:ext cx="53035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490667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1E2761"/>
                </a:solidFill>
                <a:latin typeface="Georgia"/>
              </a:defRPr>
            </a:pPr>
            <a:r>
              <a:t>Key Data Points:</a:t>
            </a:r>
          </a:p>
          <a:p>
            <a:pPr>
              <a:spcAft>
                <a:spcPts val="800"/>
              </a:spcAft>
              <a:defRPr sz="1400">
                <a:solidFill>
                  <a:srgbClr val="3C4043"/>
                </a:solidFill>
                <a:latin typeface="Calibri"/>
              </a:defRPr>
            </a:pPr>
            <a:r>
              <a:t>• Average Score: 6.67</a:t>
            </a:r>
          </a:p>
          <a:p>
            <a:pPr>
              <a:spcAft>
                <a:spcPts val="800"/>
              </a:spcAft>
              <a:defRPr sz="1400">
                <a:solidFill>
                  <a:srgbClr val="3C4043"/>
                </a:solidFill>
                <a:latin typeface="Calibri"/>
              </a:defRPr>
            </a:pPr>
            <a:r>
              <a:t>• Max Score: 20.0 (on WTM 31)</a:t>
            </a:r>
          </a:p>
          <a:p>
            <a:pPr>
              <a:spcAft>
                <a:spcPts val="800"/>
              </a:spcAft>
              <a:defRPr sz="1400">
                <a:solidFill>
                  <a:srgbClr val="3C4043"/>
                </a:solidFill>
                <a:latin typeface="Calibri"/>
              </a:defRPr>
            </a:pPr>
            <a:r>
              <a:t>• Min Score: 0.0 (on WTM 29)</a:t>
            </a:r>
          </a:p>
          <a:p>
            <a:pPr>
              <a:spcAft>
                <a:spcPts val="800"/>
              </a:spcAft>
              <a:defRPr sz="1400">
                <a:solidFill>
                  <a:srgbClr val="3C4043"/>
                </a:solidFill>
                <a:latin typeface="Calibri"/>
              </a:defRPr>
            </a:pPr>
            <a:r>
              <a:t>• Trend Direction: Improving (+20.00 points from start)</a:t>
            </a:r>
          </a:p>
          <a:p>
            <a:pPr>
              <a:defRPr sz="1400">
                <a:solidFill>
                  <a:srgbClr val="3C4043"/>
                </a:solidFill>
                <a:latin typeface="Calibri"/>
              </a:defRPr>
            </a:pPr>
            <a:r>
              <a:t>• Class Comparison: Student is 20.00 points above the class average in the latest exam.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Mathematics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80160"/>
            <a:ext cx="53035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thema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00200"/>
            <a:ext cx="5029200" cy="411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02375" y="1280160"/>
            <a:ext cx="53035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490667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1E2761"/>
                </a:solidFill>
                <a:latin typeface="Georgia"/>
              </a:defRPr>
            </a:pPr>
            <a:r>
              <a:t>Key Data Points:</a:t>
            </a:r>
          </a:p>
          <a:p>
            <a:pPr>
              <a:spcAft>
                <a:spcPts val="800"/>
              </a:spcAft>
              <a:defRPr sz="1400">
                <a:solidFill>
                  <a:srgbClr val="3C4043"/>
                </a:solidFill>
                <a:latin typeface="Calibri"/>
              </a:defRPr>
            </a:pPr>
            <a:r>
              <a:t>• Average Score: 15.67</a:t>
            </a:r>
          </a:p>
          <a:p>
            <a:pPr>
              <a:spcAft>
                <a:spcPts val="800"/>
              </a:spcAft>
              <a:defRPr sz="1400">
                <a:solidFill>
                  <a:srgbClr val="3C4043"/>
                </a:solidFill>
                <a:latin typeface="Calibri"/>
              </a:defRPr>
            </a:pPr>
            <a:r>
              <a:t>• Max Score: 47.0 (on WTM 31)</a:t>
            </a:r>
          </a:p>
          <a:p>
            <a:pPr>
              <a:spcAft>
                <a:spcPts val="800"/>
              </a:spcAft>
              <a:defRPr sz="1400">
                <a:solidFill>
                  <a:srgbClr val="3C4043"/>
                </a:solidFill>
                <a:latin typeface="Calibri"/>
              </a:defRPr>
            </a:pPr>
            <a:r>
              <a:t>• Min Score: 0.0 (on WTM 29)</a:t>
            </a:r>
          </a:p>
          <a:p>
            <a:pPr>
              <a:spcAft>
                <a:spcPts val="800"/>
              </a:spcAft>
              <a:defRPr sz="1400">
                <a:solidFill>
                  <a:srgbClr val="3C4043"/>
                </a:solidFill>
                <a:latin typeface="Calibri"/>
              </a:defRPr>
            </a:pPr>
            <a:r>
              <a:t>• Trend Direction: Improving (+47.00 points from start)</a:t>
            </a:r>
          </a:p>
          <a:p>
            <a:pPr>
              <a:defRPr sz="1400">
                <a:solidFill>
                  <a:srgbClr val="3C4043"/>
                </a:solidFill>
                <a:latin typeface="Calibri"/>
              </a:defRPr>
            </a:pPr>
            <a:r>
              <a:t>• Class Comparison: Student is 47.00 points above the class average in the latest exam.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Total Marks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80160"/>
            <a:ext cx="53035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otal_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00200"/>
            <a:ext cx="5029200" cy="411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02375" y="1280160"/>
            <a:ext cx="53035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490667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1E2761"/>
                </a:solidFill>
                <a:latin typeface="Georgia"/>
              </a:defRPr>
            </a:pPr>
            <a:r>
              <a:t>Key Data Points:</a:t>
            </a:r>
          </a:p>
          <a:p>
            <a:pPr>
              <a:spcAft>
                <a:spcPts val="800"/>
              </a:spcAft>
              <a:defRPr sz="1400">
                <a:solidFill>
                  <a:srgbClr val="3C4043"/>
                </a:solidFill>
                <a:latin typeface="Calibri"/>
              </a:defRPr>
            </a:pPr>
            <a:r>
              <a:t>• Average Score: 75.67</a:t>
            </a:r>
          </a:p>
          <a:p>
            <a:pPr>
              <a:spcAft>
                <a:spcPts val="800"/>
              </a:spcAft>
              <a:defRPr sz="1400">
                <a:solidFill>
                  <a:srgbClr val="3C4043"/>
                </a:solidFill>
                <a:latin typeface="Calibri"/>
              </a:defRPr>
            </a:pPr>
            <a:r>
              <a:t>• Max Score: 128.0 (on WTM 30)</a:t>
            </a:r>
          </a:p>
          <a:p>
            <a:pPr>
              <a:spcAft>
                <a:spcPts val="800"/>
              </a:spcAft>
              <a:defRPr sz="1400">
                <a:solidFill>
                  <a:srgbClr val="3C4043"/>
                </a:solidFill>
                <a:latin typeface="Calibri"/>
              </a:defRPr>
            </a:pPr>
            <a:r>
              <a:t>• Min Score: 0.0 (on WTM 31)</a:t>
            </a:r>
          </a:p>
          <a:p>
            <a:pPr>
              <a:spcAft>
                <a:spcPts val="800"/>
              </a:spcAft>
              <a:defRPr sz="1400">
                <a:solidFill>
                  <a:srgbClr val="3C4043"/>
                </a:solidFill>
                <a:latin typeface="Calibri"/>
              </a:defRPr>
            </a:pPr>
            <a:r>
              <a:t>• Trend Direction: Declining (-99.00 points from start)</a:t>
            </a:r>
          </a:p>
          <a:p>
            <a:pPr>
              <a:defRPr sz="1400">
                <a:solidFill>
                  <a:srgbClr val="3C4043"/>
                </a:solidFill>
                <a:latin typeface="Calibri"/>
              </a:defRPr>
            </a:pPr>
            <a:r>
              <a:t>• Class Comparison: Student is equal to the class average in the latest exam.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Overall Performance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80160"/>
            <a:ext cx="53035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verall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00200"/>
            <a:ext cx="5029200" cy="411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02375" y="1280160"/>
            <a:ext cx="53035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490667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1E2761"/>
                </a:solidFill>
                <a:latin typeface="Georgia"/>
              </a:defRPr>
            </a:pPr>
            <a:r>
              <a:t>Key Takeaways:</a:t>
            </a:r>
          </a:p>
          <a:p>
            <a:pPr>
              <a:spcAft>
                <a:spcPts val="800"/>
              </a:spcAft>
              <a:defRPr b="1" sz="1800">
                <a:solidFill>
                  <a:srgbClr val="1E2761"/>
                </a:solidFill>
                <a:latin typeface="Georgia"/>
              </a:defRPr>
            </a:pPr>
            <a:r>
              <a:t>Action Items:</a:t>
            </a:r>
          </a:p>
          <a:p>
            <a:pPr>
              <a:lnSpc>
                <a:spcPct val="130000"/>
              </a:lnSpc>
              <a:defRPr sz="1400">
                <a:solidFill>
                  <a:srgbClr val="3C4043"/>
                </a:solidFill>
                <a:latin typeface="Calibri"/>
              </a:defRPr>
            </a:pPr>
            <a:r>
              <a:t>1. Maintain performance in topics showing upward progression.</a:t>
            </a:r>
            <a:br/>
            <a:r>
              <a:t>2. Review test materials in subjects showing declining lines.</a:t>
            </a:r>
            <a:br/>
            <a:r>
              <a:t>3. Discuss class average discrepancies to ensure parity with peer groups.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